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6858000" cx="12192000"/>
  <p:notesSz cx="6858000" cy="9144000"/>
  <p:embeddedFontLst>
    <p:embeddedFont>
      <p:font typeface="Inter SemiBold"/>
      <p:regular r:id="rId21"/>
      <p:bold r:id="rId22"/>
      <p:italic r:id="rId23"/>
      <p:boldItalic r:id="rId24"/>
    </p:embeddedFont>
    <p:embeddedFont>
      <p:font typeface="Inter"/>
      <p:regular r:id="rId25"/>
      <p:bold r:id="rId26"/>
      <p:italic r:id="rId27"/>
      <p:boldItalic r:id="rId28"/>
    </p:embeddedFont>
    <p:embeddedFont>
      <p:font typeface="Orbitron"/>
      <p:regular r:id="rId29"/>
      <p:bold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1D38A7E-8797-414B-9095-0F6BBA687776}">
  <a:tblStyle styleId="{81D38A7E-8797-414B-9095-0F6BBA687776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InterSemiBold-bold.fntdata"/><Relationship Id="rId21" Type="http://schemas.openxmlformats.org/officeDocument/2006/relationships/font" Target="fonts/InterSemiBold-regular.fntdata"/><Relationship Id="rId24" Type="http://schemas.openxmlformats.org/officeDocument/2006/relationships/font" Target="fonts/InterSemiBold-boldItalic.fntdata"/><Relationship Id="rId23" Type="http://schemas.openxmlformats.org/officeDocument/2006/relationships/font" Target="fonts/InterSemiBold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Inter-bold.fntdata"/><Relationship Id="rId25" Type="http://schemas.openxmlformats.org/officeDocument/2006/relationships/font" Target="fonts/Inter-regular.fntdata"/><Relationship Id="rId28" Type="http://schemas.openxmlformats.org/officeDocument/2006/relationships/font" Target="fonts/Inter-boldItalic.fntdata"/><Relationship Id="rId27" Type="http://schemas.openxmlformats.org/officeDocument/2006/relationships/font" Target="fonts/Inter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Orbitron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0" Type="http://schemas.openxmlformats.org/officeDocument/2006/relationships/font" Target="fonts/Orbitron-bold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9.png"/><Relationship Id="rId5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9.png"/><Relationship Id="rId5" Type="http://schemas.openxmlformats.org/officeDocument/2006/relationships/image" Target="../media/image2.png"/><Relationship Id="rId6" Type="http://schemas.openxmlformats.org/officeDocument/2006/relationships/image" Target="../media/image3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9.png"/><Relationship Id="rId5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5.png"/><Relationship Id="rId9" Type="http://schemas.openxmlformats.org/officeDocument/2006/relationships/image" Target="../media/image18.png"/><Relationship Id="rId5" Type="http://schemas.openxmlformats.org/officeDocument/2006/relationships/image" Target="../media/image12.png"/><Relationship Id="rId6" Type="http://schemas.openxmlformats.org/officeDocument/2006/relationships/image" Target="../media/image15.png"/><Relationship Id="rId7" Type="http://schemas.openxmlformats.org/officeDocument/2006/relationships/image" Target="../media/image17.png"/><Relationship Id="rId8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22.png"/><Relationship Id="rId5" Type="http://schemas.openxmlformats.org/officeDocument/2006/relationships/image" Target="../media/image16.png"/><Relationship Id="rId6" Type="http://schemas.openxmlformats.org/officeDocument/2006/relationships/image" Target="../media/image14.png"/><Relationship Id="rId7" Type="http://schemas.openxmlformats.org/officeDocument/2006/relationships/image" Target="../media/image2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Relationship Id="rId4" Type="http://schemas.openxmlformats.org/officeDocument/2006/relationships/image" Target="../media/image9.png"/><Relationship Id="rId5" Type="http://schemas.openxmlformats.org/officeDocument/2006/relationships/image" Target="../media/image1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Relationship Id="rId4" Type="http://schemas.openxmlformats.org/officeDocument/2006/relationships/image" Target="../media/image2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Relationship Id="rId5" Type="http://schemas.openxmlformats.org/officeDocument/2006/relationships/image" Target="../media/image20.png"/><Relationship Id="rId6" Type="http://schemas.openxmlformats.org/officeDocument/2006/relationships/image" Target="../media/image27.png"/><Relationship Id="rId7" Type="http://schemas.openxmlformats.org/officeDocument/2006/relationships/image" Target="../media/image21.png"/><Relationship Id="rId8" Type="http://schemas.openxmlformats.org/officeDocument/2006/relationships/image" Target="../media/image2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Relationship Id="rId4" Type="http://schemas.openxmlformats.org/officeDocument/2006/relationships/image" Target="../media/image24.png"/><Relationship Id="rId5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305276" y="2388840"/>
            <a:ext cx="11581447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50" u="none" cap="none" strike="noStrike">
                <a:solidFill>
                  <a:srgbClr val="00F2FF"/>
                </a:solidFill>
                <a:latin typeface="Orbitron"/>
                <a:ea typeface="Orbitron"/>
                <a:cs typeface="Orbitron"/>
                <a:sym typeface="Orbitron"/>
              </a:rPr>
              <a:t>Website Vulnerability Scanner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581025" y="3227040"/>
            <a:ext cx="1102995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An Interactive Python Tool for Detecting Common Web Security Issues</a:t>
            </a:r>
            <a:endParaRPr/>
          </a:p>
        </p:txBody>
      </p:sp>
      <p:pic>
        <p:nvPicPr>
          <p:cNvPr descr="image.png" id="87" name="Google Shape;87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19750" y="1017240"/>
            <a:ext cx="952500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3"/>
          <p:cNvSpPr txBox="1"/>
          <p:nvPr/>
        </p:nvSpPr>
        <p:spPr>
          <a:xfrm>
            <a:off x="581025" y="4354710"/>
            <a:ext cx="110299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Presenter: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Abdullah Mohammad Mustafa Abughallous (ID: 3220603043)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581025" y="4850010"/>
            <a:ext cx="110299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Course: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Information Security Project | </a:t>
            </a: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Instructor: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Dr. Muhannad Tahboush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581025" y="5345310"/>
            <a:ext cx="110301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World Islamic Sciences and Education University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5" name="Google Shape;9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6" name="Google Shape;96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938337"/>
            <a:ext cx="527685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4" title="OWASP Top 10 2025.jpg"/>
          <p:cNvPicPr preferRelativeResize="0"/>
          <p:nvPr/>
        </p:nvPicPr>
        <p:blipFill rotWithShape="1">
          <a:blip r:embed="rId5">
            <a:alphaModFix/>
          </a:blip>
          <a:srcRect b="0" l="10992" r="10992" t="0"/>
          <a:stretch/>
        </p:blipFill>
        <p:spPr>
          <a:xfrm>
            <a:off x="6343650" y="1947862"/>
            <a:ext cx="5257800" cy="3790951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4"/>
          <p:cNvSpPr txBox="1"/>
          <p:nvPr/>
        </p:nvSpPr>
        <p:spPr>
          <a:xfrm>
            <a:off x="866775" y="2090737"/>
            <a:ext cx="49911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Educational Python-based tool built in Jupyter Notebook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866775" y="2843212"/>
            <a:ext cx="4991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Performs initial scans for common vulnerabilities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866775" y="3290887"/>
            <a:ext cx="49911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Focuses on: HTTPS security, SQL Injection (SQLi), Reflected Cross-Site Scripting (XSS)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866775" y="4043362"/>
            <a:ext cx="49911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Aligned with OWASP Top 10 2025 (Injection #5, Cryptographic Failures related to HTTPS)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866775" y="4795837"/>
            <a:ext cx="49911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Interactive GUI with real-time colored results (Safe/Warning/Danger)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581025" y="2090737"/>
            <a:ext cx="857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F2FF"/>
                </a:solidFill>
                <a:latin typeface="Inter"/>
                <a:ea typeface="Inter"/>
                <a:cs typeface="Inter"/>
                <a:sym typeface="Inter"/>
              </a:rPr>
              <a:t>▹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581025" y="2843212"/>
            <a:ext cx="857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F2FF"/>
                </a:solidFill>
                <a:latin typeface="Inter"/>
                <a:ea typeface="Inter"/>
                <a:cs typeface="Inter"/>
                <a:sym typeface="Inter"/>
              </a:rPr>
              <a:t>▹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581025" y="3290887"/>
            <a:ext cx="857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F2FF"/>
                </a:solidFill>
                <a:latin typeface="Inter"/>
                <a:ea typeface="Inter"/>
                <a:cs typeface="Inter"/>
                <a:sym typeface="Inter"/>
              </a:rPr>
              <a:t>▹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581025" y="4043362"/>
            <a:ext cx="857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F2FF"/>
                </a:solidFill>
                <a:latin typeface="Inter"/>
                <a:ea typeface="Inter"/>
                <a:cs typeface="Inter"/>
                <a:sym typeface="Inter"/>
              </a:rPr>
              <a:t>▹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581025" y="4795837"/>
            <a:ext cx="857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F2FF"/>
                </a:solidFill>
                <a:latin typeface="Inter"/>
                <a:ea typeface="Inter"/>
                <a:cs typeface="Inter"/>
                <a:sym typeface="Inter"/>
              </a:rPr>
              <a:t>▹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771525" y="581025"/>
            <a:ext cx="11381422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0F2FF"/>
                </a:solidFill>
                <a:latin typeface="Orbitron"/>
                <a:ea typeface="Orbitron"/>
                <a:cs typeface="Orbitron"/>
                <a:sym typeface="Orbitron"/>
              </a:rPr>
              <a:t>Project Overview</a:t>
            </a:r>
            <a:endParaRPr/>
          </a:p>
        </p:txBody>
      </p:sp>
      <p:sp>
        <p:nvSpPr>
          <p:cNvPr id="109" name="Google Shape;109;p14"/>
          <p:cNvSpPr/>
          <p:nvPr/>
        </p:nvSpPr>
        <p:spPr>
          <a:xfrm>
            <a:off x="581025" y="581025"/>
            <a:ext cx="47625" cy="447675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4" name="Google Shape;11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5"/>
          <p:cNvSpPr txBox="1"/>
          <p:nvPr/>
        </p:nvSpPr>
        <p:spPr>
          <a:xfrm>
            <a:off x="6334125" y="4824412"/>
            <a:ext cx="52768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00F2FF"/>
                </a:solidFill>
                <a:latin typeface="Inter"/>
                <a:ea typeface="Inter"/>
                <a:cs typeface="Inter"/>
                <a:sym typeface="Inter"/>
              </a:rPr>
              <a:t>Early detection is key – this tool provides a lightweight, educational scanner for developers and site owners.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581025" y="1597372"/>
            <a:ext cx="52768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0" u="none" cap="none" strike="noStrike">
                <a:solidFill>
                  <a:srgbClr val="00F2FF"/>
                </a:solidFill>
                <a:latin typeface="Orbitron"/>
                <a:ea typeface="Orbitron"/>
                <a:cs typeface="Orbitron"/>
                <a:sym typeface="Orbitron"/>
              </a:rPr>
              <a:t>$13.8T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581025" y="3007072"/>
            <a:ext cx="5276850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CBD5E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Projected Cybercrime Costs by 2028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581025" y="3986212"/>
            <a:ext cx="52768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0" u="none" cap="none" strike="noStrike">
                <a:solidFill>
                  <a:srgbClr val="00F2FF"/>
                </a:solidFill>
                <a:latin typeface="Orbitron"/>
                <a:ea typeface="Orbitron"/>
                <a:cs typeface="Orbitron"/>
                <a:sym typeface="Orbitron"/>
              </a:rPr>
              <a:t>30,000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581025" y="5395912"/>
            <a:ext cx="5276850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CBD5E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Websites Hacked Daily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6619875" y="2214562"/>
            <a:ext cx="49911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Global cybercrime costs projected to exceed $10.5–$13.8 trillion annually by 2028 (Statista/Cybersecurity Ventures)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6619875" y="3271837"/>
            <a:ext cx="49911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Injection attacks (including SQLi &amp; XSS) remain critical (OWASP #5)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6619875" y="4024312"/>
            <a:ext cx="49911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Many sites lack basic HTTPS, exposing data to interception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6334125" y="2214562"/>
            <a:ext cx="857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F2FF"/>
                </a:solidFill>
                <a:latin typeface="Inter"/>
                <a:ea typeface="Inter"/>
                <a:cs typeface="Inter"/>
                <a:sym typeface="Inter"/>
              </a:rPr>
              <a:t>▹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6334125" y="3271837"/>
            <a:ext cx="857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F2FF"/>
                </a:solidFill>
                <a:latin typeface="Inter"/>
                <a:ea typeface="Inter"/>
                <a:cs typeface="Inter"/>
                <a:sym typeface="Inter"/>
              </a:rPr>
              <a:t>▹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6334125" y="4024312"/>
            <a:ext cx="857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F2FF"/>
                </a:solidFill>
                <a:latin typeface="Inter"/>
                <a:ea typeface="Inter"/>
                <a:cs typeface="Inter"/>
                <a:sym typeface="Inter"/>
              </a:rPr>
              <a:t>▹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771525" y="581025"/>
            <a:ext cx="11381422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0F2FF"/>
                </a:solidFill>
                <a:latin typeface="Orbitron"/>
                <a:ea typeface="Orbitron"/>
                <a:cs typeface="Orbitron"/>
                <a:sym typeface="Orbitron"/>
              </a:rPr>
              <a:t>The Growing Threat of Web Vulnerabilities</a:t>
            </a:r>
            <a:endParaRPr/>
          </a:p>
        </p:txBody>
      </p:sp>
      <p:sp>
        <p:nvSpPr>
          <p:cNvPr id="127" name="Google Shape;127;p15"/>
          <p:cNvSpPr/>
          <p:nvPr/>
        </p:nvSpPr>
        <p:spPr>
          <a:xfrm>
            <a:off x="581025" y="581025"/>
            <a:ext cx="47625" cy="447675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2" name="Google Shape;13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3" name="Google Shape;133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938337"/>
            <a:ext cx="527685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4" name="Google Shape;13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1938337"/>
            <a:ext cx="5276850" cy="2676525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>
            <a:off x="581025" y="4805362"/>
            <a:ext cx="52768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Impact: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Data theft, session hijacking.</a:t>
            </a:r>
            <a:endParaRPr/>
          </a:p>
        </p:txBody>
      </p:sp>
      <p:pic>
        <p:nvPicPr>
          <p:cNvPr id="136" name="Google Shape;136;p16" title="what-are-the-differences-between-http-and-https-2.png"/>
          <p:cNvPicPr preferRelativeResize="0"/>
          <p:nvPr/>
        </p:nvPicPr>
        <p:blipFill rotWithShape="1">
          <a:blip r:embed="rId6">
            <a:alphaModFix/>
          </a:blip>
          <a:srcRect b="0" l="228" r="238" t="0"/>
          <a:stretch/>
        </p:blipFill>
        <p:spPr>
          <a:xfrm>
            <a:off x="6343650" y="1947862"/>
            <a:ext cx="525780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6"/>
          <p:cNvSpPr txBox="1"/>
          <p:nvPr/>
        </p:nvSpPr>
        <p:spPr>
          <a:xfrm>
            <a:off x="866775" y="2252662"/>
            <a:ext cx="4940617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F2FF"/>
                </a:solidFill>
                <a:latin typeface="Orbitron"/>
                <a:ea typeface="Orbitron"/>
                <a:cs typeface="Orbitron"/>
                <a:sym typeface="Orbitron"/>
              </a:rPr>
              <a:t>HTTP vs HTTPS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866775" y="2728912"/>
            <a:ext cx="47053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HTTP: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Data transmitted in plain text → Vulnerable to Man-in-the-Middle (MITM) attacks.</a:t>
            </a:r>
            <a:endParaRPr/>
          </a:p>
        </p:txBody>
      </p:sp>
      <p:sp>
        <p:nvSpPr>
          <p:cNvPr id="139" name="Google Shape;139;p16"/>
          <p:cNvSpPr txBox="1"/>
          <p:nvPr/>
        </p:nvSpPr>
        <p:spPr>
          <a:xfrm>
            <a:off x="866775" y="3529012"/>
            <a:ext cx="47053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HTTPS: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Encrypts data with TLS/SSL → Ensures confidentiality and integrity.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771525" y="581025"/>
            <a:ext cx="11381422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0F2FF"/>
                </a:solidFill>
                <a:latin typeface="Orbitron"/>
                <a:ea typeface="Orbitron"/>
                <a:cs typeface="Orbitron"/>
                <a:sym typeface="Orbitron"/>
              </a:rPr>
              <a:t>Vulnerability 1: Insecure Connection (HTTPS)</a:t>
            </a:r>
            <a:endParaRPr/>
          </a:p>
        </p:txBody>
      </p:sp>
      <p:sp>
        <p:nvSpPr>
          <p:cNvPr id="141" name="Google Shape;141;p16"/>
          <p:cNvSpPr/>
          <p:nvPr/>
        </p:nvSpPr>
        <p:spPr>
          <a:xfrm>
            <a:off x="581025" y="581025"/>
            <a:ext cx="47625" cy="447675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6" name="Google Shape;14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7" name="Google Shape;147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938337"/>
            <a:ext cx="52768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7"/>
          <p:cNvSpPr txBox="1"/>
          <p:nvPr/>
        </p:nvSpPr>
        <p:spPr>
          <a:xfrm>
            <a:off x="581025" y="2128837"/>
            <a:ext cx="52768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Explanation: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Attacker injects malicious SQL code into input fields to manipulate the backend database.</a:t>
            </a:r>
            <a:endParaRPr/>
          </a:p>
        </p:txBody>
      </p:sp>
      <p:sp>
        <p:nvSpPr>
          <p:cNvPr id="149" name="Google Shape;149;p17"/>
          <p:cNvSpPr txBox="1"/>
          <p:nvPr/>
        </p:nvSpPr>
        <p:spPr>
          <a:xfrm>
            <a:off x="581025" y="4319587"/>
            <a:ext cx="52768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Impact: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Data breaches, full system compromise.</a:t>
            </a:r>
            <a:endParaRPr/>
          </a:p>
        </p:txBody>
      </p:sp>
      <p:pic>
        <p:nvPicPr>
          <p:cNvPr descr="image.png" id="150" name="Google Shape;150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1947862"/>
            <a:ext cx="5257799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7"/>
          <p:cNvSpPr txBox="1"/>
          <p:nvPr/>
        </p:nvSpPr>
        <p:spPr>
          <a:xfrm>
            <a:off x="866775" y="2928937"/>
            <a:ext cx="4991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Extract sensitive user data</a:t>
            </a:r>
            <a:endParaRPr/>
          </a:p>
        </p:txBody>
      </p:sp>
      <p:sp>
        <p:nvSpPr>
          <p:cNvPr id="152" name="Google Shape;152;p17"/>
          <p:cNvSpPr txBox="1"/>
          <p:nvPr/>
        </p:nvSpPr>
        <p:spPr>
          <a:xfrm>
            <a:off x="866775" y="3376612"/>
            <a:ext cx="4991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Delete database records</a:t>
            </a:r>
            <a:endParaRPr/>
          </a:p>
        </p:txBody>
      </p:sp>
      <p:sp>
        <p:nvSpPr>
          <p:cNvPr id="153" name="Google Shape;153;p17"/>
          <p:cNvSpPr txBox="1"/>
          <p:nvPr/>
        </p:nvSpPr>
        <p:spPr>
          <a:xfrm>
            <a:off x="866775" y="3824287"/>
            <a:ext cx="4991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Bypass authentication/login</a:t>
            </a:r>
            <a:endParaRPr/>
          </a:p>
        </p:txBody>
      </p:sp>
      <p:sp>
        <p:nvSpPr>
          <p:cNvPr id="154" name="Google Shape;154;p17"/>
          <p:cNvSpPr txBox="1"/>
          <p:nvPr/>
        </p:nvSpPr>
        <p:spPr>
          <a:xfrm>
            <a:off x="581025" y="2928937"/>
            <a:ext cx="857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F2FF"/>
                </a:solidFill>
                <a:latin typeface="Inter"/>
                <a:ea typeface="Inter"/>
                <a:cs typeface="Inter"/>
                <a:sym typeface="Inter"/>
              </a:rPr>
              <a:t>▹</a:t>
            </a:r>
            <a:endParaRPr/>
          </a:p>
        </p:txBody>
      </p:sp>
      <p:sp>
        <p:nvSpPr>
          <p:cNvPr id="155" name="Google Shape;155;p17"/>
          <p:cNvSpPr txBox="1"/>
          <p:nvPr/>
        </p:nvSpPr>
        <p:spPr>
          <a:xfrm>
            <a:off x="581025" y="3376612"/>
            <a:ext cx="857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F2FF"/>
                </a:solidFill>
                <a:latin typeface="Inter"/>
                <a:ea typeface="Inter"/>
                <a:cs typeface="Inter"/>
                <a:sym typeface="Inter"/>
              </a:rPr>
              <a:t>▹</a:t>
            </a:r>
            <a:endParaRPr/>
          </a:p>
        </p:txBody>
      </p:sp>
      <p:sp>
        <p:nvSpPr>
          <p:cNvPr id="156" name="Google Shape;156;p17"/>
          <p:cNvSpPr txBox="1"/>
          <p:nvPr/>
        </p:nvSpPr>
        <p:spPr>
          <a:xfrm>
            <a:off x="581025" y="3824287"/>
            <a:ext cx="857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F2FF"/>
                </a:solidFill>
                <a:latin typeface="Inter"/>
                <a:ea typeface="Inter"/>
                <a:cs typeface="Inter"/>
                <a:sym typeface="Inter"/>
              </a:rPr>
              <a:t>▹</a:t>
            </a:r>
            <a:endParaRPr/>
          </a:p>
        </p:txBody>
      </p:sp>
      <p:sp>
        <p:nvSpPr>
          <p:cNvPr id="157" name="Google Shape;157;p17"/>
          <p:cNvSpPr txBox="1"/>
          <p:nvPr/>
        </p:nvSpPr>
        <p:spPr>
          <a:xfrm>
            <a:off x="771525" y="581025"/>
            <a:ext cx="11381422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0F2FF"/>
                </a:solidFill>
                <a:latin typeface="Orbitron"/>
                <a:ea typeface="Orbitron"/>
                <a:cs typeface="Orbitron"/>
                <a:sym typeface="Orbitron"/>
              </a:rPr>
              <a:t>Vulnerability 2: SQL Injection (SQLi)</a:t>
            </a:r>
            <a:endParaRPr/>
          </a:p>
        </p:txBody>
      </p:sp>
      <p:sp>
        <p:nvSpPr>
          <p:cNvPr id="158" name="Google Shape;158;p17"/>
          <p:cNvSpPr/>
          <p:nvPr/>
        </p:nvSpPr>
        <p:spPr>
          <a:xfrm>
            <a:off x="581025" y="581025"/>
            <a:ext cx="47625" cy="447675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3" name="Google Shape;16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4" name="Google Shape;164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938337"/>
            <a:ext cx="52768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8"/>
          <p:cNvSpPr txBox="1"/>
          <p:nvPr/>
        </p:nvSpPr>
        <p:spPr>
          <a:xfrm>
            <a:off x="581025" y="2128837"/>
            <a:ext cx="52768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Explanation: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Attacker injects malicious script that is reflected in the web response to the victim's browser.</a:t>
            </a:r>
            <a:endParaRPr/>
          </a:p>
        </p:txBody>
      </p:sp>
      <p:sp>
        <p:nvSpPr>
          <p:cNvPr id="166" name="Google Shape;166;p18"/>
          <p:cNvSpPr txBox="1"/>
          <p:nvPr/>
        </p:nvSpPr>
        <p:spPr>
          <a:xfrm>
            <a:off x="581025" y="4319587"/>
            <a:ext cx="52768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Impact: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Account takeover, phishing redirection.</a:t>
            </a:r>
            <a:endParaRPr/>
          </a:p>
        </p:txBody>
      </p:sp>
      <p:pic>
        <p:nvPicPr>
          <p:cNvPr descr="image.png" id="167" name="Google Shape;167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1947862"/>
            <a:ext cx="525780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8"/>
          <p:cNvSpPr txBox="1"/>
          <p:nvPr/>
        </p:nvSpPr>
        <p:spPr>
          <a:xfrm>
            <a:off x="866775" y="2928937"/>
            <a:ext cx="4991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Script executes in victim's browser context</a:t>
            </a:r>
            <a:endParaRPr/>
          </a:p>
        </p:txBody>
      </p:sp>
      <p:sp>
        <p:nvSpPr>
          <p:cNvPr id="169" name="Google Shape;169;p18"/>
          <p:cNvSpPr txBox="1"/>
          <p:nvPr/>
        </p:nvSpPr>
        <p:spPr>
          <a:xfrm>
            <a:off x="866775" y="3376612"/>
            <a:ext cx="4991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Used to steal cookies and session tokens</a:t>
            </a:r>
            <a:endParaRPr/>
          </a:p>
        </p:txBody>
      </p:sp>
      <p:sp>
        <p:nvSpPr>
          <p:cNvPr id="170" name="Google Shape;170;p18"/>
          <p:cNvSpPr txBox="1"/>
          <p:nvPr/>
        </p:nvSpPr>
        <p:spPr>
          <a:xfrm>
            <a:off x="866775" y="3824287"/>
            <a:ext cx="4991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Redirects users to phishing sites</a:t>
            </a:r>
            <a:endParaRPr/>
          </a:p>
        </p:txBody>
      </p:sp>
      <p:sp>
        <p:nvSpPr>
          <p:cNvPr id="171" name="Google Shape;171;p18"/>
          <p:cNvSpPr txBox="1"/>
          <p:nvPr/>
        </p:nvSpPr>
        <p:spPr>
          <a:xfrm>
            <a:off x="581025" y="2928937"/>
            <a:ext cx="857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F2FF"/>
                </a:solidFill>
                <a:latin typeface="Inter"/>
                <a:ea typeface="Inter"/>
                <a:cs typeface="Inter"/>
                <a:sym typeface="Inter"/>
              </a:rPr>
              <a:t>▹</a:t>
            </a:r>
            <a:endParaRPr/>
          </a:p>
        </p:txBody>
      </p:sp>
      <p:sp>
        <p:nvSpPr>
          <p:cNvPr id="172" name="Google Shape;172;p18"/>
          <p:cNvSpPr txBox="1"/>
          <p:nvPr/>
        </p:nvSpPr>
        <p:spPr>
          <a:xfrm>
            <a:off x="581025" y="3376612"/>
            <a:ext cx="857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F2FF"/>
                </a:solidFill>
                <a:latin typeface="Inter"/>
                <a:ea typeface="Inter"/>
                <a:cs typeface="Inter"/>
                <a:sym typeface="Inter"/>
              </a:rPr>
              <a:t>▹</a:t>
            </a:r>
            <a:endParaRPr/>
          </a:p>
        </p:txBody>
      </p:sp>
      <p:sp>
        <p:nvSpPr>
          <p:cNvPr id="173" name="Google Shape;173;p18"/>
          <p:cNvSpPr txBox="1"/>
          <p:nvPr/>
        </p:nvSpPr>
        <p:spPr>
          <a:xfrm>
            <a:off x="581025" y="3824287"/>
            <a:ext cx="857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F2FF"/>
                </a:solidFill>
                <a:latin typeface="Inter"/>
                <a:ea typeface="Inter"/>
                <a:cs typeface="Inter"/>
                <a:sym typeface="Inter"/>
              </a:rPr>
              <a:t>▹</a:t>
            </a:r>
            <a:endParaRPr/>
          </a:p>
        </p:txBody>
      </p:sp>
      <p:sp>
        <p:nvSpPr>
          <p:cNvPr id="174" name="Google Shape;174;p18"/>
          <p:cNvSpPr txBox="1"/>
          <p:nvPr/>
        </p:nvSpPr>
        <p:spPr>
          <a:xfrm>
            <a:off x="771525" y="581025"/>
            <a:ext cx="11381422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0F2FF"/>
                </a:solidFill>
                <a:latin typeface="Orbitron"/>
                <a:ea typeface="Orbitron"/>
                <a:cs typeface="Orbitron"/>
                <a:sym typeface="Orbitron"/>
              </a:rPr>
              <a:t>Vulnerability 3: Reflected XSS</a:t>
            </a:r>
            <a:endParaRPr/>
          </a:p>
        </p:txBody>
      </p:sp>
      <p:sp>
        <p:nvSpPr>
          <p:cNvPr id="175" name="Google Shape;175;p18"/>
          <p:cNvSpPr/>
          <p:nvPr/>
        </p:nvSpPr>
        <p:spPr>
          <a:xfrm>
            <a:off x="581025" y="581025"/>
            <a:ext cx="47625" cy="447675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0" name="Google Shape;18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1" name="Google Shape;181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409700"/>
            <a:ext cx="5372100" cy="2419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2" name="Google Shape;182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38875" y="1409700"/>
            <a:ext cx="5372100" cy="2419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3" name="Google Shape;183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4114800"/>
            <a:ext cx="5372100" cy="2114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4" name="Google Shape;184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38875" y="4114800"/>
            <a:ext cx="5372100" cy="211455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19"/>
          <p:cNvSpPr txBox="1"/>
          <p:nvPr/>
        </p:nvSpPr>
        <p:spPr>
          <a:xfrm>
            <a:off x="581025" y="6515100"/>
            <a:ext cx="110299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Note: Runs in Jupyter environment (e.g., Google Colab or local environment).</a:t>
            </a:r>
            <a:endParaRPr/>
          </a:p>
        </p:txBody>
      </p:sp>
      <p:sp>
        <p:nvSpPr>
          <p:cNvPr id="186" name="Google Shape;186;p19"/>
          <p:cNvSpPr txBox="1"/>
          <p:nvPr/>
        </p:nvSpPr>
        <p:spPr>
          <a:xfrm>
            <a:off x="866775" y="2438400"/>
            <a:ext cx="4800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Primary language for scripting security logic and automated payload testing.</a:t>
            </a:r>
            <a:endParaRPr/>
          </a:p>
        </p:txBody>
      </p:sp>
      <p:sp>
        <p:nvSpPr>
          <p:cNvPr id="187" name="Google Shape;187;p19"/>
          <p:cNvSpPr txBox="1"/>
          <p:nvPr/>
        </p:nvSpPr>
        <p:spPr>
          <a:xfrm>
            <a:off x="6524625" y="2438400"/>
            <a:ext cx="480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Handles sending HTTP requests and analyzing server responses for specific vulnerability signatures.</a:t>
            </a:r>
            <a:endParaRPr/>
          </a:p>
        </p:txBody>
      </p:sp>
      <p:sp>
        <p:nvSpPr>
          <p:cNvPr id="188" name="Google Shape;188;p19"/>
          <p:cNvSpPr txBox="1"/>
          <p:nvPr/>
        </p:nvSpPr>
        <p:spPr>
          <a:xfrm>
            <a:off x="866775" y="5143500"/>
            <a:ext cx="4800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Enables the interactive GUI components within the Jupyter Notebook environment.</a:t>
            </a:r>
            <a:endParaRPr/>
          </a:p>
        </p:txBody>
      </p:sp>
      <p:sp>
        <p:nvSpPr>
          <p:cNvPr id="189" name="Google Shape;189;p19"/>
          <p:cNvSpPr txBox="1"/>
          <p:nvPr/>
        </p:nvSpPr>
        <p:spPr>
          <a:xfrm>
            <a:off x="6524625" y="5143500"/>
            <a:ext cx="4800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Used for styling result cards with intuitive color-coded security indicators.</a:t>
            </a:r>
            <a:endParaRPr/>
          </a:p>
        </p:txBody>
      </p:sp>
      <p:pic>
        <p:nvPicPr>
          <p:cNvPr descr="image.png" id="190" name="Google Shape;190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66775" y="1724025"/>
            <a:ext cx="266700" cy="352425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19"/>
          <p:cNvSpPr txBox="1"/>
          <p:nvPr/>
        </p:nvSpPr>
        <p:spPr>
          <a:xfrm>
            <a:off x="1323975" y="1724025"/>
            <a:ext cx="1790223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F2FF"/>
                </a:solidFill>
                <a:latin typeface="Orbitron"/>
                <a:ea typeface="Orbitron"/>
                <a:cs typeface="Orbitron"/>
                <a:sym typeface="Orbitron"/>
              </a:rPr>
              <a:t>Python Core</a:t>
            </a:r>
            <a:endParaRPr/>
          </a:p>
        </p:txBody>
      </p:sp>
      <p:pic>
        <p:nvPicPr>
          <p:cNvPr descr="image.png" id="192" name="Google Shape;192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24625" y="1724025"/>
            <a:ext cx="381000" cy="352425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19"/>
          <p:cNvSpPr txBox="1"/>
          <p:nvPr/>
        </p:nvSpPr>
        <p:spPr>
          <a:xfrm>
            <a:off x="7096125" y="1724025"/>
            <a:ext cx="2510313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F2FF"/>
                </a:solidFill>
                <a:latin typeface="Orbitron"/>
                <a:ea typeface="Orbitron"/>
                <a:cs typeface="Orbitron"/>
                <a:sym typeface="Orbitron"/>
              </a:rPr>
              <a:t>Requests Library</a:t>
            </a:r>
            <a:endParaRPr/>
          </a:p>
        </p:txBody>
      </p:sp>
      <p:pic>
        <p:nvPicPr>
          <p:cNvPr descr="image.png" id="194" name="Google Shape;194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66775" y="4429125"/>
            <a:ext cx="381000" cy="352425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19"/>
          <p:cNvSpPr txBox="1"/>
          <p:nvPr/>
        </p:nvSpPr>
        <p:spPr>
          <a:xfrm>
            <a:off x="1438275" y="4429125"/>
            <a:ext cx="152019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F2FF"/>
                </a:solidFill>
                <a:latin typeface="Orbitron"/>
                <a:ea typeface="Orbitron"/>
                <a:cs typeface="Orbitron"/>
                <a:sym typeface="Orbitron"/>
              </a:rPr>
              <a:t>ipywidgets</a:t>
            </a:r>
            <a:endParaRPr/>
          </a:p>
        </p:txBody>
      </p:sp>
      <p:pic>
        <p:nvPicPr>
          <p:cNvPr descr="image.png" id="196" name="Google Shape;196;p1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524625" y="4429125"/>
            <a:ext cx="304800" cy="352425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19"/>
          <p:cNvSpPr txBox="1"/>
          <p:nvPr/>
        </p:nvSpPr>
        <p:spPr>
          <a:xfrm>
            <a:off x="7019925" y="4429125"/>
            <a:ext cx="2770346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F2FF"/>
                </a:solidFill>
                <a:latin typeface="Orbitron"/>
                <a:ea typeface="Orbitron"/>
                <a:cs typeface="Orbitron"/>
                <a:sym typeface="Orbitron"/>
              </a:rPr>
              <a:t>Custom CSS/HTML</a:t>
            </a:r>
            <a:endParaRPr/>
          </a:p>
        </p:txBody>
      </p:sp>
      <p:sp>
        <p:nvSpPr>
          <p:cNvPr id="198" name="Google Shape;198;p19"/>
          <p:cNvSpPr txBox="1"/>
          <p:nvPr/>
        </p:nvSpPr>
        <p:spPr>
          <a:xfrm>
            <a:off x="771525" y="581025"/>
            <a:ext cx="11381422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0F2FF"/>
                </a:solidFill>
                <a:latin typeface="Orbitron"/>
                <a:ea typeface="Orbitron"/>
                <a:cs typeface="Orbitron"/>
                <a:sym typeface="Orbitron"/>
              </a:rPr>
              <a:t>Technologies Used</a:t>
            </a:r>
            <a:endParaRPr/>
          </a:p>
        </p:txBody>
      </p:sp>
      <p:sp>
        <p:nvSpPr>
          <p:cNvPr id="199" name="Google Shape;199;p19"/>
          <p:cNvSpPr/>
          <p:nvPr/>
        </p:nvSpPr>
        <p:spPr>
          <a:xfrm>
            <a:off x="581025" y="581025"/>
            <a:ext cx="47625" cy="447675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4" name="Google Shape;20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20"/>
          <p:cNvSpPr txBox="1"/>
          <p:nvPr/>
        </p:nvSpPr>
        <p:spPr>
          <a:xfrm>
            <a:off x="771525" y="581025"/>
            <a:ext cx="4990623" cy="895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0F2FF"/>
                </a:solidFill>
                <a:latin typeface="Orbitron"/>
                <a:ea typeface="Orbitron"/>
                <a:cs typeface="Orbitron"/>
                <a:sym typeface="Orbitron"/>
              </a:rPr>
              <a:t>Live Demo: Interactive Interface</a:t>
            </a:r>
            <a:endParaRPr/>
          </a:p>
        </p:txBody>
      </p:sp>
      <p:sp>
        <p:nvSpPr>
          <p:cNvPr id="206" name="Google Shape;206;p20"/>
          <p:cNvSpPr/>
          <p:nvPr/>
        </p:nvSpPr>
        <p:spPr>
          <a:xfrm>
            <a:off x="581025" y="581025"/>
            <a:ext cx="47625" cy="895350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0"/>
          <p:cNvSpPr txBox="1"/>
          <p:nvPr/>
        </p:nvSpPr>
        <p:spPr>
          <a:xfrm>
            <a:off x="6190775" y="428637"/>
            <a:ext cx="46578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Simple input: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Enter target URL</a:t>
            </a:r>
            <a:endParaRPr/>
          </a:p>
        </p:txBody>
      </p:sp>
      <p:sp>
        <p:nvSpPr>
          <p:cNvPr id="208" name="Google Shape;208;p20"/>
          <p:cNvSpPr txBox="1"/>
          <p:nvPr/>
        </p:nvSpPr>
        <p:spPr>
          <a:xfrm>
            <a:off x="6190775" y="876312"/>
            <a:ext cx="46578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One-click: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Scan button execution</a:t>
            </a:r>
            <a:endParaRPr/>
          </a:p>
        </p:txBody>
      </p:sp>
      <p:sp>
        <p:nvSpPr>
          <p:cNvPr id="209" name="Google Shape;209;p20"/>
          <p:cNvSpPr txBox="1"/>
          <p:nvPr/>
        </p:nvSpPr>
        <p:spPr>
          <a:xfrm>
            <a:off x="6190775" y="1323987"/>
            <a:ext cx="46578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Real-time results: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Colored cards</a:t>
            </a:r>
            <a:endParaRPr/>
          </a:p>
        </p:txBody>
      </p:sp>
      <p:pic>
        <p:nvPicPr>
          <p:cNvPr descr="image.png" id="210" name="Google Shape;210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4872037"/>
            <a:ext cx="60960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1" name="Google Shape;211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85875" y="4872037"/>
            <a:ext cx="8953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2" name="Google Shape;212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276475" y="4872037"/>
            <a:ext cx="8191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0"/>
          <p:cNvSpPr txBox="1"/>
          <p:nvPr/>
        </p:nvSpPr>
        <p:spPr>
          <a:xfrm>
            <a:off x="5905025" y="428637"/>
            <a:ext cx="858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F2FF"/>
                </a:solidFill>
                <a:latin typeface="Inter"/>
                <a:ea typeface="Inter"/>
                <a:cs typeface="Inter"/>
                <a:sym typeface="Inter"/>
              </a:rPr>
              <a:t>▹</a:t>
            </a:r>
            <a:endParaRPr/>
          </a:p>
        </p:txBody>
      </p:sp>
      <p:sp>
        <p:nvSpPr>
          <p:cNvPr id="214" name="Google Shape;214;p20"/>
          <p:cNvSpPr txBox="1"/>
          <p:nvPr/>
        </p:nvSpPr>
        <p:spPr>
          <a:xfrm>
            <a:off x="5905025" y="876312"/>
            <a:ext cx="858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F2FF"/>
                </a:solidFill>
                <a:latin typeface="Inter"/>
                <a:ea typeface="Inter"/>
                <a:cs typeface="Inter"/>
                <a:sym typeface="Inter"/>
              </a:rPr>
              <a:t>▹</a:t>
            </a:r>
            <a:endParaRPr/>
          </a:p>
        </p:txBody>
      </p:sp>
      <p:sp>
        <p:nvSpPr>
          <p:cNvPr id="215" name="Google Shape;215;p20"/>
          <p:cNvSpPr txBox="1"/>
          <p:nvPr/>
        </p:nvSpPr>
        <p:spPr>
          <a:xfrm>
            <a:off x="5905025" y="1323987"/>
            <a:ext cx="858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F2FF"/>
                </a:solidFill>
                <a:latin typeface="Inter"/>
                <a:ea typeface="Inter"/>
                <a:cs typeface="Inter"/>
                <a:sym typeface="Inter"/>
              </a:rPr>
              <a:t>▹</a:t>
            </a:r>
            <a:endParaRPr/>
          </a:p>
        </p:txBody>
      </p:sp>
      <p:pic>
        <p:nvPicPr>
          <p:cNvPr id="216" name="Google Shape;216;p20" title="Screenshot 2026-01-05 195933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13100" y="1861675"/>
            <a:ext cx="12006400" cy="5118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1" name="Google Shape;221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2" name="Google Shape;222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938337"/>
            <a:ext cx="52768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1"/>
          <p:cNvSpPr txBox="1"/>
          <p:nvPr/>
        </p:nvSpPr>
        <p:spPr>
          <a:xfrm>
            <a:off x="581025" y="1938337"/>
            <a:ext cx="554069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Orbitron"/>
                <a:ea typeface="Orbitron"/>
                <a:cs typeface="Orbitron"/>
                <a:sym typeface="Orbitron"/>
              </a:rPr>
              <a:t>Target: testphp.vulnweb.com</a:t>
            </a:r>
            <a:endParaRPr/>
          </a:p>
        </p:txBody>
      </p:sp>
      <p:sp>
        <p:nvSpPr>
          <p:cNvPr id="224" name="Google Shape;224;p21"/>
          <p:cNvSpPr txBox="1"/>
          <p:nvPr/>
        </p:nvSpPr>
        <p:spPr>
          <a:xfrm>
            <a:off x="866775" y="2319337"/>
            <a:ext cx="49911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HTTPS: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Often redirects but may warn about lack of encryption</a:t>
            </a:r>
            <a:endParaRPr/>
          </a:p>
        </p:txBody>
      </p:sp>
      <p:sp>
        <p:nvSpPr>
          <p:cNvPr id="225" name="Google Shape;225;p21"/>
          <p:cNvSpPr txBox="1"/>
          <p:nvPr/>
        </p:nvSpPr>
        <p:spPr>
          <a:xfrm>
            <a:off x="866775" y="3071812"/>
            <a:ext cx="49911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SQLi: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Detected (error-based payloads trigger database errors)</a:t>
            </a:r>
            <a:endParaRPr/>
          </a:p>
        </p:txBody>
      </p:sp>
      <p:sp>
        <p:nvSpPr>
          <p:cNvPr id="226" name="Google Shape;226;p21"/>
          <p:cNvSpPr txBox="1"/>
          <p:nvPr/>
        </p:nvSpPr>
        <p:spPr>
          <a:xfrm>
            <a:off x="866775" y="3824287"/>
            <a:ext cx="49911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XSS: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Detected (reflected script in common parameters)</a:t>
            </a:r>
            <a:endParaRPr/>
          </a:p>
        </p:txBody>
      </p:sp>
      <p:sp>
        <p:nvSpPr>
          <p:cNvPr id="227" name="Google Shape;227;p21"/>
          <p:cNvSpPr txBox="1"/>
          <p:nvPr/>
        </p:nvSpPr>
        <p:spPr>
          <a:xfrm>
            <a:off x="581025" y="2319337"/>
            <a:ext cx="857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F2FF"/>
                </a:solidFill>
                <a:latin typeface="Inter"/>
                <a:ea typeface="Inter"/>
                <a:cs typeface="Inter"/>
                <a:sym typeface="Inter"/>
              </a:rPr>
              <a:t>▹</a:t>
            </a:r>
            <a:endParaRPr/>
          </a:p>
        </p:txBody>
      </p:sp>
      <p:sp>
        <p:nvSpPr>
          <p:cNvPr id="228" name="Google Shape;228;p21"/>
          <p:cNvSpPr txBox="1"/>
          <p:nvPr/>
        </p:nvSpPr>
        <p:spPr>
          <a:xfrm>
            <a:off x="581025" y="3071812"/>
            <a:ext cx="857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F2FF"/>
                </a:solidFill>
                <a:latin typeface="Inter"/>
                <a:ea typeface="Inter"/>
                <a:cs typeface="Inter"/>
                <a:sym typeface="Inter"/>
              </a:rPr>
              <a:t>▹</a:t>
            </a:r>
            <a:endParaRPr/>
          </a:p>
        </p:txBody>
      </p:sp>
      <p:sp>
        <p:nvSpPr>
          <p:cNvPr id="229" name="Google Shape;229;p21"/>
          <p:cNvSpPr txBox="1"/>
          <p:nvPr/>
        </p:nvSpPr>
        <p:spPr>
          <a:xfrm>
            <a:off x="581025" y="3824287"/>
            <a:ext cx="857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F2FF"/>
                </a:solidFill>
                <a:latin typeface="Inter"/>
                <a:ea typeface="Inter"/>
                <a:cs typeface="Inter"/>
                <a:sym typeface="Inter"/>
              </a:rPr>
              <a:t>▹</a:t>
            </a:r>
            <a:endParaRPr/>
          </a:p>
        </p:txBody>
      </p:sp>
      <p:sp>
        <p:nvSpPr>
          <p:cNvPr id="230" name="Google Shape;230;p21"/>
          <p:cNvSpPr txBox="1"/>
          <p:nvPr/>
        </p:nvSpPr>
        <p:spPr>
          <a:xfrm>
            <a:off x="771525" y="581025"/>
            <a:ext cx="11381422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0F2FF"/>
                </a:solidFill>
                <a:latin typeface="Orbitron"/>
                <a:ea typeface="Orbitron"/>
                <a:cs typeface="Orbitron"/>
                <a:sym typeface="Orbitron"/>
              </a:rPr>
              <a:t>Scan Results Example</a:t>
            </a:r>
            <a:endParaRPr/>
          </a:p>
        </p:txBody>
      </p:sp>
      <p:sp>
        <p:nvSpPr>
          <p:cNvPr id="231" name="Google Shape;231;p21"/>
          <p:cNvSpPr/>
          <p:nvPr/>
        </p:nvSpPr>
        <p:spPr>
          <a:xfrm>
            <a:off x="581025" y="581025"/>
            <a:ext cx="47625" cy="447675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2" name="Google Shape;232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34113" y="785813"/>
            <a:ext cx="5667375" cy="5591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7" name="Google Shape;237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38" name="Google Shape;238;p22"/>
          <p:cNvGraphicFramePr/>
          <p:nvPr/>
        </p:nvGraphicFramePr>
        <p:xfrm>
          <a:off x="581025" y="177730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{81D38A7E-8797-414B-9095-0F6BBA687776}</a:tableStyleId>
              </a:tblPr>
              <a:tblGrid>
                <a:gridCol w="3501775"/>
                <a:gridCol w="7528175"/>
              </a:tblGrid>
              <a:tr h="689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00F2FF"/>
                          </a:solidFill>
                          <a:latin typeface="Orbitron"/>
                          <a:ea typeface="Orbitron"/>
                          <a:cs typeface="Orbitron"/>
                          <a:sym typeface="Orbitron"/>
                        </a:rPr>
                        <a:t>Metric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00F2FF"/>
                          </a:solidFill>
                          <a:latin typeface="Orbitron"/>
                          <a:ea typeface="Orbitron"/>
                          <a:cs typeface="Orbitron"/>
                          <a:sym typeface="Orbitron"/>
                        </a:rPr>
                        <a:t>Result Details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4155"/>
                    </a:solidFill>
                  </a:tcPr>
                </a:tc>
              </a:tr>
              <a:tr h="689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Total Checks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20+ on multiple environments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89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Primary Test Site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testphp.vulnweb.com (intentionally vulnerable)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89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Detection Accuracy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High for basic patterns (~95%)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89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Average Scan Time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&lt;15 seconds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39" name="Google Shape;239;p22"/>
          <p:cNvSpPr/>
          <p:nvPr/>
        </p:nvSpPr>
        <p:spPr>
          <a:xfrm>
            <a:off x="581025" y="2427833"/>
            <a:ext cx="3501776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2"/>
          <p:cNvSpPr/>
          <p:nvPr/>
        </p:nvSpPr>
        <p:spPr>
          <a:xfrm>
            <a:off x="4082801" y="2427833"/>
            <a:ext cx="752817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2"/>
          <p:cNvSpPr/>
          <p:nvPr/>
        </p:nvSpPr>
        <p:spPr>
          <a:xfrm>
            <a:off x="581025" y="3123158"/>
            <a:ext cx="3501776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2"/>
          <p:cNvSpPr/>
          <p:nvPr/>
        </p:nvSpPr>
        <p:spPr>
          <a:xfrm>
            <a:off x="4082801" y="3123158"/>
            <a:ext cx="752817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2"/>
          <p:cNvSpPr/>
          <p:nvPr/>
        </p:nvSpPr>
        <p:spPr>
          <a:xfrm>
            <a:off x="581025" y="3818483"/>
            <a:ext cx="3501776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2"/>
          <p:cNvSpPr/>
          <p:nvPr/>
        </p:nvSpPr>
        <p:spPr>
          <a:xfrm>
            <a:off x="4082801" y="3818483"/>
            <a:ext cx="752817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2"/>
          <p:cNvSpPr/>
          <p:nvPr/>
        </p:nvSpPr>
        <p:spPr>
          <a:xfrm>
            <a:off x="581025" y="4513808"/>
            <a:ext cx="3501776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2"/>
          <p:cNvSpPr/>
          <p:nvPr/>
        </p:nvSpPr>
        <p:spPr>
          <a:xfrm>
            <a:off x="4082801" y="4513808"/>
            <a:ext cx="752817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2"/>
          <p:cNvSpPr/>
          <p:nvPr/>
        </p:nvSpPr>
        <p:spPr>
          <a:xfrm>
            <a:off x="581025" y="5209133"/>
            <a:ext cx="3501776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2"/>
          <p:cNvSpPr/>
          <p:nvPr/>
        </p:nvSpPr>
        <p:spPr>
          <a:xfrm>
            <a:off x="4082801" y="5209133"/>
            <a:ext cx="752817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2"/>
          <p:cNvSpPr txBox="1"/>
          <p:nvPr/>
        </p:nvSpPr>
        <p:spPr>
          <a:xfrm>
            <a:off x="771525" y="581025"/>
            <a:ext cx="11381422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0F2FF"/>
                </a:solidFill>
                <a:latin typeface="Orbitron"/>
                <a:ea typeface="Orbitron"/>
                <a:cs typeface="Orbitron"/>
                <a:sym typeface="Orbitron"/>
              </a:rPr>
              <a:t>Testing Summary</a:t>
            </a:r>
            <a:endParaRPr/>
          </a:p>
        </p:txBody>
      </p:sp>
      <p:sp>
        <p:nvSpPr>
          <p:cNvPr id="250" name="Google Shape;250;p22"/>
          <p:cNvSpPr/>
          <p:nvPr/>
        </p:nvSpPr>
        <p:spPr>
          <a:xfrm>
            <a:off x="581025" y="581025"/>
            <a:ext cx="47625" cy="447675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5" name="Google Shape;255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23"/>
          <p:cNvSpPr txBox="1"/>
          <p:nvPr/>
        </p:nvSpPr>
        <p:spPr>
          <a:xfrm>
            <a:off x="581025" y="2752725"/>
            <a:ext cx="554069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F4D4D"/>
                </a:solidFill>
                <a:latin typeface="Orbitron"/>
                <a:ea typeface="Orbitron"/>
                <a:cs typeface="Orbitron"/>
                <a:sym typeface="Orbitron"/>
              </a:rPr>
              <a:t>Current Limitations</a:t>
            </a:r>
            <a:endParaRPr/>
          </a:p>
        </p:txBody>
      </p:sp>
      <p:sp>
        <p:nvSpPr>
          <p:cNvPr id="257" name="Google Shape;257;p23"/>
          <p:cNvSpPr txBox="1"/>
          <p:nvPr/>
        </p:nvSpPr>
        <p:spPr>
          <a:xfrm>
            <a:off x="6334125" y="2752725"/>
            <a:ext cx="554069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FF88"/>
                </a:solidFill>
                <a:latin typeface="Orbitron"/>
                <a:ea typeface="Orbitron"/>
                <a:cs typeface="Orbitron"/>
                <a:sym typeface="Orbitron"/>
              </a:rPr>
              <a:t>Future Roadmap</a:t>
            </a:r>
            <a:endParaRPr/>
          </a:p>
        </p:txBody>
      </p:sp>
      <p:sp>
        <p:nvSpPr>
          <p:cNvPr id="258" name="Google Shape;258;p23"/>
          <p:cNvSpPr txBox="1"/>
          <p:nvPr/>
        </p:nvSpPr>
        <p:spPr>
          <a:xfrm>
            <a:off x="866775" y="3133725"/>
            <a:ext cx="4991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Basic detection only (error-based SQLi, reflected XSS)</a:t>
            </a:r>
            <a:endParaRPr/>
          </a:p>
        </p:txBody>
      </p:sp>
      <p:sp>
        <p:nvSpPr>
          <p:cNvPr id="259" name="Google Shape;259;p23"/>
          <p:cNvSpPr txBox="1"/>
          <p:nvPr/>
        </p:nvSpPr>
        <p:spPr>
          <a:xfrm>
            <a:off x="866775" y="3581400"/>
            <a:ext cx="49911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No advanced techniques (e.g., blind SQLi, DOM-based XSS)</a:t>
            </a:r>
            <a:endParaRPr/>
          </a:p>
        </p:txBody>
      </p:sp>
      <p:sp>
        <p:nvSpPr>
          <p:cNvPr id="260" name="Google Shape;260;p23"/>
          <p:cNvSpPr txBox="1"/>
          <p:nvPr/>
        </p:nvSpPr>
        <p:spPr>
          <a:xfrm>
            <a:off x="866775" y="4333875"/>
            <a:ext cx="4991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No automated report export</a:t>
            </a:r>
            <a:endParaRPr/>
          </a:p>
        </p:txBody>
      </p:sp>
      <p:sp>
        <p:nvSpPr>
          <p:cNvPr id="261" name="Google Shape;261;p23"/>
          <p:cNvSpPr txBox="1"/>
          <p:nvPr/>
        </p:nvSpPr>
        <p:spPr>
          <a:xfrm>
            <a:off x="6619875" y="3133725"/>
            <a:ext cx="4991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Add more payloads (CSRF, command injection)</a:t>
            </a:r>
            <a:endParaRPr/>
          </a:p>
        </p:txBody>
      </p:sp>
      <p:sp>
        <p:nvSpPr>
          <p:cNvPr id="262" name="Google Shape;262;p23"/>
          <p:cNvSpPr txBox="1"/>
          <p:nvPr/>
        </p:nvSpPr>
        <p:spPr>
          <a:xfrm>
            <a:off x="6619875" y="3581400"/>
            <a:ext cx="4991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PDF/HTML report generation</a:t>
            </a:r>
            <a:endParaRPr/>
          </a:p>
        </p:txBody>
      </p:sp>
      <p:sp>
        <p:nvSpPr>
          <p:cNvPr id="263" name="Google Shape;263;p23"/>
          <p:cNvSpPr txBox="1"/>
          <p:nvPr/>
        </p:nvSpPr>
        <p:spPr>
          <a:xfrm>
            <a:off x="6619875" y="4029075"/>
            <a:ext cx="4991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Multi-threaded scanning for speed</a:t>
            </a:r>
            <a:endParaRPr/>
          </a:p>
        </p:txBody>
      </p:sp>
      <p:sp>
        <p:nvSpPr>
          <p:cNvPr id="264" name="Google Shape;264;p23"/>
          <p:cNvSpPr txBox="1"/>
          <p:nvPr/>
        </p:nvSpPr>
        <p:spPr>
          <a:xfrm>
            <a:off x="6619875" y="4476750"/>
            <a:ext cx="4991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Support for authenticated scans</a:t>
            </a:r>
            <a:endParaRPr/>
          </a:p>
        </p:txBody>
      </p:sp>
      <p:sp>
        <p:nvSpPr>
          <p:cNvPr id="265" name="Google Shape;265;p23"/>
          <p:cNvSpPr txBox="1"/>
          <p:nvPr/>
        </p:nvSpPr>
        <p:spPr>
          <a:xfrm>
            <a:off x="581025" y="3133725"/>
            <a:ext cx="857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F2FF"/>
                </a:solidFill>
                <a:latin typeface="Inter"/>
                <a:ea typeface="Inter"/>
                <a:cs typeface="Inter"/>
                <a:sym typeface="Inter"/>
              </a:rPr>
              <a:t>▹</a:t>
            </a:r>
            <a:endParaRPr/>
          </a:p>
        </p:txBody>
      </p:sp>
      <p:sp>
        <p:nvSpPr>
          <p:cNvPr id="266" name="Google Shape;266;p23"/>
          <p:cNvSpPr txBox="1"/>
          <p:nvPr/>
        </p:nvSpPr>
        <p:spPr>
          <a:xfrm>
            <a:off x="581025" y="3581400"/>
            <a:ext cx="857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F2FF"/>
                </a:solidFill>
                <a:latin typeface="Inter"/>
                <a:ea typeface="Inter"/>
                <a:cs typeface="Inter"/>
                <a:sym typeface="Inter"/>
              </a:rPr>
              <a:t>▹</a:t>
            </a:r>
            <a:endParaRPr/>
          </a:p>
        </p:txBody>
      </p:sp>
      <p:sp>
        <p:nvSpPr>
          <p:cNvPr id="267" name="Google Shape;267;p23"/>
          <p:cNvSpPr txBox="1"/>
          <p:nvPr/>
        </p:nvSpPr>
        <p:spPr>
          <a:xfrm>
            <a:off x="581025" y="4333875"/>
            <a:ext cx="857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F2FF"/>
                </a:solidFill>
                <a:latin typeface="Inter"/>
                <a:ea typeface="Inter"/>
                <a:cs typeface="Inter"/>
                <a:sym typeface="Inter"/>
              </a:rPr>
              <a:t>▹</a:t>
            </a:r>
            <a:endParaRPr/>
          </a:p>
        </p:txBody>
      </p:sp>
      <p:sp>
        <p:nvSpPr>
          <p:cNvPr id="268" name="Google Shape;268;p23"/>
          <p:cNvSpPr txBox="1"/>
          <p:nvPr/>
        </p:nvSpPr>
        <p:spPr>
          <a:xfrm>
            <a:off x="6334125" y="3133725"/>
            <a:ext cx="857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F2FF"/>
                </a:solidFill>
                <a:latin typeface="Inter"/>
                <a:ea typeface="Inter"/>
                <a:cs typeface="Inter"/>
                <a:sym typeface="Inter"/>
              </a:rPr>
              <a:t>▹</a:t>
            </a:r>
            <a:endParaRPr/>
          </a:p>
        </p:txBody>
      </p:sp>
      <p:sp>
        <p:nvSpPr>
          <p:cNvPr id="269" name="Google Shape;269;p23"/>
          <p:cNvSpPr txBox="1"/>
          <p:nvPr/>
        </p:nvSpPr>
        <p:spPr>
          <a:xfrm>
            <a:off x="6334125" y="3581400"/>
            <a:ext cx="857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F2FF"/>
                </a:solidFill>
                <a:latin typeface="Inter"/>
                <a:ea typeface="Inter"/>
                <a:cs typeface="Inter"/>
                <a:sym typeface="Inter"/>
              </a:rPr>
              <a:t>▹</a:t>
            </a:r>
            <a:endParaRPr/>
          </a:p>
        </p:txBody>
      </p:sp>
      <p:sp>
        <p:nvSpPr>
          <p:cNvPr id="270" name="Google Shape;270;p23"/>
          <p:cNvSpPr txBox="1"/>
          <p:nvPr/>
        </p:nvSpPr>
        <p:spPr>
          <a:xfrm>
            <a:off x="6334125" y="4029075"/>
            <a:ext cx="857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F2FF"/>
                </a:solidFill>
                <a:latin typeface="Inter"/>
                <a:ea typeface="Inter"/>
                <a:cs typeface="Inter"/>
                <a:sym typeface="Inter"/>
              </a:rPr>
              <a:t>▹</a:t>
            </a:r>
            <a:endParaRPr/>
          </a:p>
        </p:txBody>
      </p:sp>
      <p:sp>
        <p:nvSpPr>
          <p:cNvPr id="271" name="Google Shape;271;p23"/>
          <p:cNvSpPr txBox="1"/>
          <p:nvPr/>
        </p:nvSpPr>
        <p:spPr>
          <a:xfrm>
            <a:off x="6334125" y="4476750"/>
            <a:ext cx="857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F2FF"/>
                </a:solidFill>
                <a:latin typeface="Inter"/>
                <a:ea typeface="Inter"/>
                <a:cs typeface="Inter"/>
                <a:sym typeface="Inter"/>
              </a:rPr>
              <a:t>▹</a:t>
            </a:r>
            <a:endParaRPr/>
          </a:p>
        </p:txBody>
      </p:sp>
      <p:sp>
        <p:nvSpPr>
          <p:cNvPr id="272" name="Google Shape;272;p23"/>
          <p:cNvSpPr txBox="1"/>
          <p:nvPr/>
        </p:nvSpPr>
        <p:spPr>
          <a:xfrm>
            <a:off x="771525" y="581025"/>
            <a:ext cx="11381422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0F2FF"/>
                </a:solidFill>
                <a:latin typeface="Orbitron"/>
                <a:ea typeface="Orbitron"/>
                <a:cs typeface="Orbitron"/>
                <a:sym typeface="Orbitron"/>
              </a:rPr>
              <a:t>Limitations and Roadmap</a:t>
            </a:r>
            <a:endParaRPr/>
          </a:p>
        </p:txBody>
      </p:sp>
      <p:sp>
        <p:nvSpPr>
          <p:cNvPr id="273" name="Google Shape;273;p23"/>
          <p:cNvSpPr/>
          <p:nvPr/>
        </p:nvSpPr>
        <p:spPr>
          <a:xfrm>
            <a:off x="581025" y="581025"/>
            <a:ext cx="47625" cy="447675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8" name="Google Shape;27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24"/>
          <p:cNvSpPr txBox="1"/>
          <p:nvPr/>
        </p:nvSpPr>
        <p:spPr>
          <a:xfrm>
            <a:off x="500538" y="581025"/>
            <a:ext cx="11381422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00F2FF"/>
                </a:solidFill>
                <a:latin typeface="Orbitron"/>
                <a:ea typeface="Orbitron"/>
                <a:cs typeface="Orbitron"/>
                <a:sym typeface="Orbitron"/>
              </a:rPr>
              <a:t>Thank You!</a:t>
            </a:r>
            <a:endParaRPr/>
          </a:p>
        </p:txBody>
      </p:sp>
      <p:pic>
        <p:nvPicPr>
          <p:cNvPr descr="image.png" id="280" name="Google Shape;280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724025"/>
            <a:ext cx="11029950" cy="2419350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24"/>
          <p:cNvSpPr txBox="1"/>
          <p:nvPr/>
        </p:nvSpPr>
        <p:spPr>
          <a:xfrm>
            <a:off x="581025" y="4143375"/>
            <a:ext cx="1102995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This tool promotes OWASP awareness through hands-on, interactive scanning.</a:t>
            </a:r>
            <a:endParaRPr/>
          </a:p>
        </p:txBody>
      </p:sp>
      <p:sp>
        <p:nvSpPr>
          <p:cNvPr id="282" name="Google Shape;282;p24"/>
          <p:cNvSpPr txBox="1"/>
          <p:nvPr/>
        </p:nvSpPr>
        <p:spPr>
          <a:xfrm>
            <a:off x="581025" y="4928145"/>
            <a:ext cx="110299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F2FF"/>
                </a:solidFill>
                <a:latin typeface="Inter"/>
                <a:ea typeface="Inter"/>
                <a:cs typeface="Inter"/>
                <a:sym typeface="Inter"/>
              </a:rPr>
              <a:t>Special Thanks:</a:t>
            </a:r>
            <a:r>
              <a:rPr b="0" i="0" lang="en-US" sz="1500" u="none" cap="none" strike="noStrike">
                <a:solidFill>
                  <a:srgbClr val="00F2FF"/>
                </a:solidFill>
                <a:latin typeface="Inter"/>
                <a:ea typeface="Inter"/>
                <a:cs typeface="Inter"/>
                <a:sym typeface="Inter"/>
              </a:rPr>
              <a:t> Dr. Muhannad Tahboush</a:t>
            </a:r>
            <a:endParaRPr/>
          </a:p>
        </p:txBody>
      </p:sp>
      <p:sp>
        <p:nvSpPr>
          <p:cNvPr id="283" name="Google Shape;283;p24"/>
          <p:cNvSpPr txBox="1"/>
          <p:nvPr/>
        </p:nvSpPr>
        <p:spPr>
          <a:xfrm>
            <a:off x="305276" y="5899695"/>
            <a:ext cx="11581447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Orbitron"/>
                <a:ea typeface="Orbitron"/>
                <a:cs typeface="Orbitron"/>
                <a:sym typeface="Orbitron"/>
              </a:rPr>
              <a:t>Questions?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8" name="Google Shape;288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25"/>
          <p:cNvSpPr/>
          <p:nvPr/>
        </p:nvSpPr>
        <p:spPr>
          <a:xfrm>
            <a:off x="581025" y="1409700"/>
            <a:ext cx="11029950" cy="9828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25"/>
          <p:cNvSpPr/>
          <p:nvPr/>
        </p:nvSpPr>
        <p:spPr>
          <a:xfrm>
            <a:off x="581025" y="2392560"/>
            <a:ext cx="1102995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25"/>
          <p:cNvSpPr/>
          <p:nvPr/>
        </p:nvSpPr>
        <p:spPr>
          <a:xfrm>
            <a:off x="581025" y="3177331"/>
            <a:ext cx="1102995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25"/>
          <p:cNvSpPr/>
          <p:nvPr/>
        </p:nvSpPr>
        <p:spPr>
          <a:xfrm>
            <a:off x="581025" y="3962102"/>
            <a:ext cx="1102995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25"/>
          <p:cNvSpPr/>
          <p:nvPr/>
        </p:nvSpPr>
        <p:spPr>
          <a:xfrm>
            <a:off x="581025" y="4746873"/>
            <a:ext cx="1102995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25"/>
          <p:cNvSpPr txBox="1"/>
          <p:nvPr/>
        </p:nvSpPr>
        <p:spPr>
          <a:xfrm>
            <a:off x="581025" y="1409700"/>
            <a:ext cx="857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F2FF"/>
                </a:solidFill>
                <a:latin typeface="Inter"/>
                <a:ea typeface="Inter"/>
                <a:cs typeface="Inter"/>
                <a:sym typeface="Inter"/>
              </a:rPr>
              <a:t>▹</a:t>
            </a:r>
            <a:endParaRPr/>
          </a:p>
        </p:txBody>
      </p:sp>
      <p:sp>
        <p:nvSpPr>
          <p:cNvPr id="295" name="Google Shape;295;p25"/>
          <p:cNvSpPr/>
          <p:nvPr/>
        </p:nvSpPr>
        <p:spPr>
          <a:xfrm>
            <a:off x="581025" y="2383035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25"/>
          <p:cNvSpPr/>
          <p:nvPr/>
        </p:nvSpPr>
        <p:spPr>
          <a:xfrm>
            <a:off x="581025" y="2383035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25"/>
          <p:cNvSpPr txBox="1"/>
          <p:nvPr/>
        </p:nvSpPr>
        <p:spPr>
          <a:xfrm>
            <a:off x="581025" y="2392560"/>
            <a:ext cx="857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F2FF"/>
                </a:solidFill>
                <a:latin typeface="Inter"/>
                <a:ea typeface="Inter"/>
                <a:cs typeface="Inter"/>
                <a:sym typeface="Inter"/>
              </a:rPr>
              <a:t>▹</a:t>
            </a:r>
            <a:endParaRPr/>
          </a:p>
        </p:txBody>
      </p:sp>
      <p:sp>
        <p:nvSpPr>
          <p:cNvPr id="298" name="Google Shape;298;p25"/>
          <p:cNvSpPr/>
          <p:nvPr/>
        </p:nvSpPr>
        <p:spPr>
          <a:xfrm>
            <a:off x="581025" y="3167806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25"/>
          <p:cNvSpPr/>
          <p:nvPr/>
        </p:nvSpPr>
        <p:spPr>
          <a:xfrm>
            <a:off x="581025" y="3167806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25"/>
          <p:cNvSpPr txBox="1"/>
          <p:nvPr/>
        </p:nvSpPr>
        <p:spPr>
          <a:xfrm>
            <a:off x="581025" y="3177331"/>
            <a:ext cx="857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F2FF"/>
                </a:solidFill>
                <a:latin typeface="Inter"/>
                <a:ea typeface="Inter"/>
                <a:cs typeface="Inter"/>
                <a:sym typeface="Inter"/>
              </a:rPr>
              <a:t>▹</a:t>
            </a:r>
            <a:endParaRPr/>
          </a:p>
        </p:txBody>
      </p:sp>
      <p:sp>
        <p:nvSpPr>
          <p:cNvPr id="301" name="Google Shape;301;p25"/>
          <p:cNvSpPr/>
          <p:nvPr/>
        </p:nvSpPr>
        <p:spPr>
          <a:xfrm>
            <a:off x="581025" y="3952577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25"/>
          <p:cNvSpPr/>
          <p:nvPr/>
        </p:nvSpPr>
        <p:spPr>
          <a:xfrm>
            <a:off x="581025" y="3952577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25"/>
          <p:cNvSpPr txBox="1"/>
          <p:nvPr/>
        </p:nvSpPr>
        <p:spPr>
          <a:xfrm>
            <a:off x="581025" y="3962102"/>
            <a:ext cx="857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F2FF"/>
                </a:solidFill>
                <a:latin typeface="Inter"/>
                <a:ea typeface="Inter"/>
                <a:cs typeface="Inter"/>
                <a:sym typeface="Inter"/>
              </a:rPr>
              <a:t>▹</a:t>
            </a:r>
            <a:endParaRPr/>
          </a:p>
        </p:txBody>
      </p:sp>
      <p:sp>
        <p:nvSpPr>
          <p:cNvPr id="304" name="Google Shape;304;p25"/>
          <p:cNvSpPr/>
          <p:nvPr/>
        </p:nvSpPr>
        <p:spPr>
          <a:xfrm>
            <a:off x="581025" y="4737348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25"/>
          <p:cNvSpPr/>
          <p:nvPr/>
        </p:nvSpPr>
        <p:spPr>
          <a:xfrm>
            <a:off x="581025" y="4737348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25"/>
          <p:cNvSpPr txBox="1"/>
          <p:nvPr/>
        </p:nvSpPr>
        <p:spPr>
          <a:xfrm>
            <a:off x="581025" y="4746873"/>
            <a:ext cx="857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F2FF"/>
                </a:solidFill>
                <a:latin typeface="Inter"/>
                <a:ea typeface="Inter"/>
                <a:cs typeface="Inter"/>
                <a:sym typeface="Inter"/>
              </a:rPr>
              <a:t>▹</a:t>
            </a:r>
            <a:endParaRPr/>
          </a:p>
        </p:txBody>
      </p:sp>
      <p:sp>
        <p:nvSpPr>
          <p:cNvPr id="307" name="Google Shape;307;p25"/>
          <p:cNvSpPr/>
          <p:nvPr/>
        </p:nvSpPr>
        <p:spPr>
          <a:xfrm>
            <a:off x="581025" y="5522118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25"/>
          <p:cNvSpPr/>
          <p:nvPr/>
        </p:nvSpPr>
        <p:spPr>
          <a:xfrm>
            <a:off x="581025" y="5522118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25"/>
          <p:cNvSpPr txBox="1"/>
          <p:nvPr/>
        </p:nvSpPr>
        <p:spPr>
          <a:xfrm>
            <a:off x="581025" y="5531643"/>
            <a:ext cx="857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F2FF"/>
                </a:solidFill>
                <a:latin typeface="Inter"/>
                <a:ea typeface="Inter"/>
                <a:cs typeface="Inter"/>
                <a:sym typeface="Inter"/>
              </a:rPr>
              <a:t>▹</a:t>
            </a:r>
            <a:endParaRPr/>
          </a:p>
        </p:txBody>
      </p:sp>
      <p:pic>
        <p:nvPicPr>
          <p:cNvPr descr="image.png" id="310" name="Google Shape;310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65824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25"/>
          <p:cNvSpPr txBox="1"/>
          <p:nvPr/>
        </p:nvSpPr>
        <p:spPr>
          <a:xfrm>
            <a:off x="1676400" y="1552575"/>
            <a:ext cx="993457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https://media.istockphoto.com/id/1269848874/vector/lock-protection-security-icon-editable-vector-isolated-on-a-white-background.jpg?s=612x612&amp;w=0&amp;k=20&amp;c=e--6Ry-HI3AwuJOzCKikNLY33mWbc6fok6oNjJrwdoc=</a:t>
            </a:r>
            <a:endParaRPr/>
          </a:p>
        </p:txBody>
      </p:sp>
      <p:sp>
        <p:nvSpPr>
          <p:cNvPr id="312" name="Google Shape;312;p25"/>
          <p:cNvSpPr txBox="1"/>
          <p:nvPr/>
        </p:nvSpPr>
        <p:spPr>
          <a:xfrm>
            <a:off x="1676400" y="1996380"/>
            <a:ext cx="99345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www.istockphoto.com</a:t>
            </a:r>
            <a:endParaRPr/>
          </a:p>
        </p:txBody>
      </p:sp>
      <p:pic>
        <p:nvPicPr>
          <p:cNvPr descr="image.png" id="313" name="Google Shape;313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2541984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25"/>
          <p:cNvSpPr txBox="1"/>
          <p:nvPr/>
        </p:nvSpPr>
        <p:spPr>
          <a:xfrm>
            <a:off x="1676400" y="2535435"/>
            <a:ext cx="993457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https://www.indusface.com/wp-content/uploads/2025/11/2021-2025.png</a:t>
            </a:r>
            <a:endParaRPr/>
          </a:p>
        </p:txBody>
      </p:sp>
      <p:sp>
        <p:nvSpPr>
          <p:cNvPr id="315" name="Google Shape;315;p25"/>
          <p:cNvSpPr txBox="1"/>
          <p:nvPr/>
        </p:nvSpPr>
        <p:spPr>
          <a:xfrm>
            <a:off x="1676400" y="2781151"/>
            <a:ext cx="99345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www.indusface.com</a:t>
            </a:r>
            <a:endParaRPr/>
          </a:p>
        </p:txBody>
      </p:sp>
      <p:pic>
        <p:nvPicPr>
          <p:cNvPr descr="image.png" id="316" name="Google Shape;316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332675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25"/>
          <p:cNvSpPr txBox="1"/>
          <p:nvPr/>
        </p:nvSpPr>
        <p:spPr>
          <a:xfrm>
            <a:off x="1676400" y="3320206"/>
            <a:ext cx="993457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https://cheapsslsecurity.com/blog/wp-content/uploads/2021/03/http-vs-https-comparison-diagram2.png</a:t>
            </a:r>
            <a:endParaRPr/>
          </a:p>
        </p:txBody>
      </p:sp>
      <p:sp>
        <p:nvSpPr>
          <p:cNvPr id="318" name="Google Shape;318;p25"/>
          <p:cNvSpPr txBox="1"/>
          <p:nvPr/>
        </p:nvSpPr>
        <p:spPr>
          <a:xfrm>
            <a:off x="1676400" y="3565921"/>
            <a:ext cx="99345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cheapsslsecurity.com</a:t>
            </a:r>
            <a:endParaRPr/>
          </a:p>
        </p:txBody>
      </p:sp>
      <p:pic>
        <p:nvPicPr>
          <p:cNvPr descr="image.png" id="319" name="Google Shape;319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1025" y="411152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25"/>
          <p:cNvSpPr txBox="1"/>
          <p:nvPr/>
        </p:nvSpPr>
        <p:spPr>
          <a:xfrm>
            <a:off x="1676400" y="4104977"/>
            <a:ext cx="993457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https://www.spanning.com/blog/sql-injection-attacks-web-based-application-security-part-4/SQL-injection-attack-example.png</a:t>
            </a:r>
            <a:endParaRPr/>
          </a:p>
        </p:txBody>
      </p:sp>
      <p:sp>
        <p:nvSpPr>
          <p:cNvPr id="321" name="Google Shape;321;p25"/>
          <p:cNvSpPr txBox="1"/>
          <p:nvPr/>
        </p:nvSpPr>
        <p:spPr>
          <a:xfrm>
            <a:off x="1676400" y="4350692"/>
            <a:ext cx="99345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www.spanning.com</a:t>
            </a:r>
            <a:endParaRPr/>
          </a:p>
        </p:txBody>
      </p:sp>
      <p:pic>
        <p:nvPicPr>
          <p:cNvPr descr="image.png" id="322" name="Google Shape;322;p2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1025" y="4896296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25"/>
          <p:cNvSpPr txBox="1"/>
          <p:nvPr/>
        </p:nvSpPr>
        <p:spPr>
          <a:xfrm>
            <a:off x="1676400" y="4889748"/>
            <a:ext cx="993457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https://miro.medium.com/1*nBHP_IDyxI3cdKyUehpW9g.png</a:t>
            </a:r>
            <a:endParaRPr/>
          </a:p>
        </p:txBody>
      </p:sp>
      <p:sp>
        <p:nvSpPr>
          <p:cNvPr id="324" name="Google Shape;324;p25"/>
          <p:cNvSpPr txBox="1"/>
          <p:nvPr/>
        </p:nvSpPr>
        <p:spPr>
          <a:xfrm>
            <a:off x="1676400" y="5135463"/>
            <a:ext cx="99345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steiner254.medium.com</a:t>
            </a:r>
            <a:endParaRPr/>
          </a:p>
        </p:txBody>
      </p:sp>
      <p:pic>
        <p:nvPicPr>
          <p:cNvPr descr="image.png" id="325" name="Google Shape;325;p2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81025" y="568106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25"/>
          <p:cNvSpPr txBox="1"/>
          <p:nvPr/>
        </p:nvSpPr>
        <p:spPr>
          <a:xfrm>
            <a:off x="1676400" y="5674518"/>
            <a:ext cx="993457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https://docs.tenable.com/nessus/Content/Images/Dashboard.png</a:t>
            </a:r>
            <a:endParaRPr/>
          </a:p>
        </p:txBody>
      </p:sp>
      <p:sp>
        <p:nvSpPr>
          <p:cNvPr id="327" name="Google Shape;327;p25"/>
          <p:cNvSpPr txBox="1"/>
          <p:nvPr/>
        </p:nvSpPr>
        <p:spPr>
          <a:xfrm>
            <a:off x="1676400" y="5920233"/>
            <a:ext cx="99345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docs.tenable.com</a:t>
            </a:r>
            <a:endParaRPr/>
          </a:p>
        </p:txBody>
      </p:sp>
      <p:sp>
        <p:nvSpPr>
          <p:cNvPr id="328" name="Google Shape;328;p25"/>
          <p:cNvSpPr txBox="1"/>
          <p:nvPr/>
        </p:nvSpPr>
        <p:spPr>
          <a:xfrm>
            <a:off x="771525" y="581025"/>
            <a:ext cx="11381422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0F2FF"/>
                </a:solidFill>
                <a:latin typeface="Orbitron"/>
                <a:ea typeface="Orbitron"/>
                <a:cs typeface="Orbitron"/>
                <a:sym typeface="Orbitron"/>
              </a:rPr>
              <a:t>Image Sources</a:t>
            </a:r>
            <a:endParaRPr/>
          </a:p>
        </p:txBody>
      </p:sp>
      <p:sp>
        <p:nvSpPr>
          <p:cNvPr id="329" name="Google Shape;329;p25"/>
          <p:cNvSpPr/>
          <p:nvPr/>
        </p:nvSpPr>
        <p:spPr>
          <a:xfrm>
            <a:off x="581025" y="581025"/>
            <a:ext cx="47625" cy="447675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34" name="Google Shape;334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Google Shape;335;p26"/>
          <p:cNvSpPr/>
          <p:nvPr/>
        </p:nvSpPr>
        <p:spPr>
          <a:xfrm>
            <a:off x="581025" y="3063329"/>
            <a:ext cx="1102995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26"/>
          <p:cNvSpPr txBox="1"/>
          <p:nvPr/>
        </p:nvSpPr>
        <p:spPr>
          <a:xfrm>
            <a:off x="581025" y="3063329"/>
            <a:ext cx="857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F2FF"/>
                </a:solidFill>
                <a:latin typeface="Inter"/>
                <a:ea typeface="Inter"/>
                <a:cs typeface="Inter"/>
                <a:sym typeface="Inter"/>
              </a:rPr>
              <a:t>▹</a:t>
            </a:r>
            <a:endParaRPr/>
          </a:p>
        </p:txBody>
      </p:sp>
      <p:sp>
        <p:nvSpPr>
          <p:cNvPr id="337" name="Google Shape;337;p26"/>
          <p:cNvSpPr/>
          <p:nvPr/>
        </p:nvSpPr>
        <p:spPr>
          <a:xfrm>
            <a:off x="581025" y="3838575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26"/>
          <p:cNvSpPr/>
          <p:nvPr/>
        </p:nvSpPr>
        <p:spPr>
          <a:xfrm>
            <a:off x="581025" y="3838575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26"/>
          <p:cNvSpPr txBox="1"/>
          <p:nvPr/>
        </p:nvSpPr>
        <p:spPr>
          <a:xfrm>
            <a:off x="581025" y="3848100"/>
            <a:ext cx="857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F2FF"/>
                </a:solidFill>
                <a:latin typeface="Inter"/>
                <a:ea typeface="Inter"/>
                <a:cs typeface="Inter"/>
                <a:sym typeface="Inter"/>
              </a:rPr>
              <a:t>▹</a:t>
            </a:r>
            <a:endParaRPr/>
          </a:p>
        </p:txBody>
      </p:sp>
      <p:pic>
        <p:nvPicPr>
          <p:cNvPr descr="image.png" id="340" name="Google Shape;340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321275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p26"/>
          <p:cNvSpPr txBox="1"/>
          <p:nvPr/>
        </p:nvSpPr>
        <p:spPr>
          <a:xfrm>
            <a:off x="1676400" y="3206204"/>
            <a:ext cx="993457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https://www.rapidfiretools.com/media/report_spread_hu12148535131720744615.webp</a:t>
            </a:r>
            <a:endParaRPr/>
          </a:p>
        </p:txBody>
      </p:sp>
      <p:sp>
        <p:nvSpPr>
          <p:cNvPr id="342" name="Google Shape;342;p26"/>
          <p:cNvSpPr txBox="1"/>
          <p:nvPr/>
        </p:nvSpPr>
        <p:spPr>
          <a:xfrm>
            <a:off x="1676400" y="3451919"/>
            <a:ext cx="99345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www.rapidfiretools.com</a:t>
            </a:r>
            <a:endParaRPr/>
          </a:p>
        </p:txBody>
      </p:sp>
      <p:pic>
        <p:nvPicPr>
          <p:cNvPr descr="image.png" id="343" name="Google Shape;343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3997523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p26"/>
          <p:cNvSpPr txBox="1"/>
          <p:nvPr/>
        </p:nvSpPr>
        <p:spPr>
          <a:xfrm>
            <a:off x="1676400" y="3990975"/>
            <a:ext cx="993457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https://slidemodel.com/wp-content/uploads/60536-01-cyber-security-powerpoint-template-16x9-10.jpg</a:t>
            </a:r>
            <a:endParaRPr/>
          </a:p>
        </p:txBody>
      </p:sp>
      <p:sp>
        <p:nvSpPr>
          <p:cNvPr id="345" name="Google Shape;345;p26"/>
          <p:cNvSpPr txBox="1"/>
          <p:nvPr/>
        </p:nvSpPr>
        <p:spPr>
          <a:xfrm>
            <a:off x="1676400" y="4236690"/>
            <a:ext cx="99345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slidemodel.com</a:t>
            </a:r>
            <a:endParaRPr/>
          </a:p>
        </p:txBody>
      </p:sp>
      <p:sp>
        <p:nvSpPr>
          <p:cNvPr id="346" name="Google Shape;346;p26"/>
          <p:cNvSpPr txBox="1"/>
          <p:nvPr/>
        </p:nvSpPr>
        <p:spPr>
          <a:xfrm>
            <a:off x="771525" y="581025"/>
            <a:ext cx="11381422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0F2FF"/>
                </a:solidFill>
                <a:latin typeface="Orbitron"/>
                <a:ea typeface="Orbitron"/>
                <a:cs typeface="Orbitron"/>
                <a:sym typeface="Orbitron"/>
              </a:rPr>
              <a:t>Image Sources</a:t>
            </a:r>
            <a:endParaRPr/>
          </a:p>
        </p:txBody>
      </p:sp>
      <p:sp>
        <p:nvSpPr>
          <p:cNvPr id="347" name="Google Shape;347;p26"/>
          <p:cNvSpPr/>
          <p:nvPr/>
        </p:nvSpPr>
        <p:spPr>
          <a:xfrm>
            <a:off x="581025" y="581025"/>
            <a:ext cx="47625" cy="447675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